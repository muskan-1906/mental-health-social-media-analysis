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kan Saxena" userId="6d37ead69ce1648f" providerId="LiveId" clId="{A386A2FC-0F32-45C8-8E4A-6948B68F9899}"/>
    <pc:docChg chg="delSld modSld">
      <pc:chgData name="Muskan Saxena" userId="6d37ead69ce1648f" providerId="LiveId" clId="{A386A2FC-0F32-45C8-8E4A-6948B68F9899}" dt="2026-05-16T03:31:10.043" v="2" actId="2696"/>
      <pc:docMkLst>
        <pc:docMk/>
      </pc:docMkLst>
      <pc:sldChg chg="modSp del mod">
        <pc:chgData name="Muskan Saxena" userId="6d37ead69ce1648f" providerId="LiveId" clId="{A386A2FC-0F32-45C8-8E4A-6948B68F9899}" dt="2026-05-16T03:31:10.043" v="2" actId="2696"/>
        <pc:sldMkLst>
          <pc:docMk/>
          <pc:sldMk cId="0" sldId="268"/>
        </pc:sldMkLst>
        <pc:spChg chg="mod">
          <ac:chgData name="Muskan Saxena" userId="6d37ead69ce1648f" providerId="LiveId" clId="{A386A2FC-0F32-45C8-8E4A-6948B68F9899}" dt="2026-05-15T19:11:23.703" v="0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Muskan Saxena" userId="6d37ead69ce1648f" providerId="LiveId" clId="{A386A2FC-0F32-45C8-8E4A-6948B68F9899}" dt="2026-05-15T19:11:34.615" v="1" actId="1076"/>
          <ac:spMkLst>
            <pc:docMk/>
            <pc:sldMk cId="0" sldId="268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67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5213A"/>
          </a:solidFill>
          <a:ln w="12700">
            <a:solidFill>
              <a:srgbClr val="152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M.Sc Data Science — 4th Semester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Mental Health Risk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Social Media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Patterns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45720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</a:rPr>
              <a:t>Muskan Saxena  |  Roll No. 2409196900002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Supervised by: Dr. Ranjana Gupta &amp; Dr. Minakshi Pachauri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224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Department of Statistics  |  Dr. Bhimrao Ambedkar University, Agra  |  May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CONTENTS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023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01  Introduction &amp; Problem Statement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02  Dataset Overview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020824"/>
            <a:ext cx="4023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30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03  Methodology Pipeline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066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04  Data Preprocessing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172968"/>
            <a:ext cx="4023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826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05  Feature Engineering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58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06  Target Variable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4325112"/>
            <a:ext cx="4023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34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07  Exploratory Data Analysis (EDA)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868680"/>
            <a:ext cx="42062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784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08  Clustering Analysis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144475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09  Machine Learning Models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2020824"/>
            <a:ext cx="42062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130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10  Results &amp; Best Model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259689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7066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11  Feature Importance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3172968"/>
            <a:ext cx="42062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2826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12  Live Prediction Demo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37490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858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13  Conclusion &amp; Future Scope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8A"/>
                </a:solidFill>
              </a:rPr>
              <a:t>Social media use has grown rapidly — but so have anxiety, depression, and sleep disorders.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1E3A8A"/>
                </a:solidFill>
              </a:rPr>
              <a:t>Can we predict mental health risk from usage patterns using Machine Learning?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4114800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93392"/>
            <a:ext cx="54864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84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The Issue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41401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Excessive social media linked to anxiety, depression &amp; sleep problems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0016" y="1993392"/>
            <a:ext cx="4114800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0016" y="1993392"/>
            <a:ext cx="54864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084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The Behavior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241401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Comparison, validation-seeking &amp; mindless scrolling are key triggers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55264"/>
            <a:ext cx="4114800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255264"/>
            <a:ext cx="54864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346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The Gap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36758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No data-driven tool exists to predict individual mental health risk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0016" y="3255264"/>
            <a:ext cx="4114800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0016" y="3255264"/>
            <a:ext cx="54864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346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36758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ML models trained on survey data to classify users as Low / Medium / High risk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01168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AD3FF"/>
                </a:solidFill>
              </a:rPr>
              <a:t>Responses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50592" y="868680"/>
            <a:ext cx="201168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50592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AD3FF"/>
                </a:solidFill>
              </a:rPr>
              <a:t>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26864" y="868680"/>
            <a:ext cx="201168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26864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AD3FF"/>
                </a:solidFill>
              </a:rPr>
              <a:t>Risk Classes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03136" y="868680"/>
            <a:ext cx="201168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803136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AD3FF"/>
                </a:solidFill>
              </a:rPr>
              <a:t>Likert Scale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029968"/>
            <a:ext cx="8595360" cy="34747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0482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Variable Category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204825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Variables / Description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859536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5054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Demographics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68880" y="250545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Age, Gender, Occupation, Relationship Status, Organization Type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889504"/>
            <a:ext cx="8595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Behavioral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68880" y="2971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Daily usage hours, Purposeless use, Distraction, Restlessness, Validation seeking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355848"/>
            <a:ext cx="859536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381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Psychological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68880" y="343814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Anxiety, Depression level, Sleep disturbances, Concentration difficulty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822192"/>
            <a:ext cx="8595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04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Engineered Features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68880" y="39044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Addiction Score, Behavioral Score, Mental Score, Overall Score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288536"/>
            <a:ext cx="859536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370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Target Variable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468880" y="43708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Mental Health Risk → Low (≤2) / Medium (2–3) / High (&gt;3)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Source: Kaggle — Social Media and Mental Health Survey (souvikahmed071)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01168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20116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" y="10058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81328"/>
            <a:ext cx="1792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Survey dataset from Kaggle (447 responses)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0" y="1737360"/>
            <a:ext cx="16459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914400"/>
            <a:ext cx="201168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914400"/>
            <a:ext cx="20116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987552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52928" y="10058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1481328"/>
            <a:ext cx="1792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Clean, encode &amp; normalize 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62272" y="1737360"/>
            <a:ext cx="16459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914400"/>
            <a:ext cx="201168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914400"/>
            <a:ext cx="201168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987552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10058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1481328"/>
            <a:ext cx="1792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Create Addiction, Behavioral &amp; Mental Scores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38544" y="1737360"/>
            <a:ext cx="16459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03136" y="914400"/>
            <a:ext cx="201168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3136" y="914400"/>
            <a:ext cx="20116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987552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05472" y="10058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 Variable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12864" y="1481328"/>
            <a:ext cx="1792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Construct Mental Health Index → 3 risk levels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880360"/>
            <a:ext cx="201168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880360"/>
            <a:ext cx="20116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53512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6656" y="29718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" y="3447288"/>
            <a:ext cx="1792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Visualize distributions &amp; find patterns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0" y="3703320"/>
            <a:ext cx="16459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50592" y="2880360"/>
            <a:ext cx="201168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50592" y="288036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42032" y="2953512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852928" y="29718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Clustering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60320" y="3447288"/>
            <a:ext cx="1792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K-Means + Hierarchical (k=3)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462272" y="3703320"/>
            <a:ext cx="16459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26864" y="2880360"/>
            <a:ext cx="201168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26864" y="2880360"/>
            <a:ext cx="20116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2953512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029200" y="29718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 Models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36592" y="3447288"/>
            <a:ext cx="1792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Train &amp; compare 6 classifiers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638544" y="3703320"/>
            <a:ext cx="16459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03136" y="2880360"/>
            <a:ext cx="201168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03136" y="2880360"/>
            <a:ext cx="2011680" cy="45720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2953512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205472" y="29718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Prediction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12864" y="3447288"/>
            <a:ext cx="1792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Real-time risk assessment system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DATA PREPROCESSING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Preparing the Data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Step 1 — Load &amp; Inspect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133502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Loaded dataset, examined structure, standardized column names (lowercase, underscores)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0016" y="91440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0016" y="91440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Step 2 — Handle Missing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64608" y="133502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Removed rows with invalid/incomplete entries. Filtered unrealistic age values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4028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Step 3 — Encode Categories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8912" y="266090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Label encoding for gender, occupation, platforms. Likert text → numbers (1–5)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0016" y="224028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0016" y="224028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Step 4 — Fix Usage Hours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64608" y="266090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Converted range-based usage (e.g. '1–2 hours') to numeric midpoint values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56616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Step 5 — Remove Leakage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8912" y="398678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Excluded depression, anxiety, sleep variables from features (used only in target)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0016" y="356616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0016" y="356616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Step 6 — Final Dataset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64608" y="398678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Clean structured dataset ready: 447 rows × 22 features, no missing values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6A34A"/>
                </a:solidFill>
              </a:rPr>
              <a:t>Result: Clean, normalized dataset with all categorical variables encoded and no data leakage.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FEATURE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Meaningful Variables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784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Addiction 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17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Formula: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5568" y="14173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A3A"/>
                </a:solidFill>
              </a:rPr>
              <a:t>(Purposeless + Distracted + Restless + Validation) ÷ 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682496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792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Why?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41248" y="1792224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Measures social media dependency &amp; compulsive use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0016" y="914400"/>
            <a:ext cx="41148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0016" y="914400"/>
            <a:ext cx="41148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9784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Behavioral Score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9744" y="1417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Formula: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41264" y="14173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A3A"/>
                </a:solidFill>
              </a:rPr>
              <a:t>(Comparison + Comparison Feelings) ÷ 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9744" y="1682496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792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Why?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66944" y="1792224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Captures psychological impact of comparing with others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41148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34640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8986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Mental Score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" y="33375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Formula: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15568" y="333756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A3A"/>
                </a:solidFill>
              </a:rPr>
              <a:t>(Concentration Difficulty + Interest Fluctuation) ÷ 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" y="3602736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71246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Why?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41248" y="3712464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Reflects cognitive &amp; emotional state of the user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0016" y="2834640"/>
            <a:ext cx="41148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0016" y="2834640"/>
            <a:ext cx="41148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28986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Overall Score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9744" y="33375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Formula: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41264" y="333756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A3A"/>
                </a:solidFill>
              </a:rPr>
              <a:t>(Addiction + Behavioral + Mental) ÷ 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9744" y="3602736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9744" y="371246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Why?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66944" y="3712464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Holistic composite — 2nd most important predictor (14.3%)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Findings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0116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41248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05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Age Distribution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34416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Majority aged 18–25 (right-skewed). Young adults dominate the dataset.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841248"/>
            <a:ext cx="20116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841248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905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Gender vs Risk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42032" y="134416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Females show higher counts in High Risk category than males.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841248"/>
            <a:ext cx="20116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841248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905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Usage vs Risk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18304" y="134416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High-risk users average 3+ hrs/day. More usage = higher risk.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841248"/>
            <a:ext cx="20116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03136" y="841248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94576" y="905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Addiction vs Risk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94576" y="134416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Higher addiction scores consistently lead to higher mental health risk.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52928"/>
            <a:ext cx="20116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52928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169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Sleep vs Risk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335584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Poor sleep is strongly linked to High Risk. Sleep is a key indicator.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50592" y="2852928"/>
            <a:ext cx="20116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50592" y="2852928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29169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Correlation Heatmap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42032" y="335584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Behavioral variables (distraction, purposeless use) strongly correlate with mental health.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26864" y="2852928"/>
            <a:ext cx="20116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26864" y="2852928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29169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Comparison Behavior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18304" y="335584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Frequent self-comparison on social media drives psychological distress.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03136" y="2852928"/>
            <a:ext cx="20116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03136" y="2852928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94576" y="29169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Top Platforms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94576" y="335584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YouTube, Instagram, Facebook most used. Multi-platform = higher risk.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CLUSTERING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User Segmentation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K-Means Clustering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AD3FF"/>
                </a:solidFill>
              </a:rPr>
              <a:t>Divides users into 3 groups based on usage hours, addiction, behavioral &amp; mental scores.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Hierarchical Clustering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AE6FD"/>
                </a:solidFill>
              </a:rPr>
              <a:t>Builds clusters by merging closest data points. Confirms K-Means results.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2743200" cy="2514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65960"/>
            <a:ext cx="274320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0208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Cluster 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25603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</a:rPr>
              <a:t>Low Risk Users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" y="292608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</a:rPr>
              <a:t>Low usage hours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</a:rPr>
              <a:t>Low addiction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</a:rPr>
              <a:t>Controlled behavior pattern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82112" y="1965960"/>
            <a:ext cx="2743200" cy="2514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1965960"/>
            <a:ext cx="27432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0208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Cluster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25603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</a:rPr>
              <a:t>Medium Risk Users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91840" y="292608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</a:rPr>
              <a:t>Moderate usage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</a:rPr>
              <a:t>Some distraction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</a:rPr>
              <a:t>Borderline patterns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9904" y="1965960"/>
            <a:ext cx="2743200" cy="2514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9904" y="1965960"/>
            <a:ext cx="274320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20208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Cluster 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99632" y="25603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</a:rPr>
              <a:t>High Risk Users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99632" y="292608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</a:rPr>
              <a:t>5+ hrs usage daily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</a:rPr>
              <a:t>Max addiction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</a:rPr>
              <a:t>High comparison behavior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6451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A34A"/>
                </a:solidFill>
              </a:rPr>
              <a:t>✓  Both methods agreed on the same 3 user groups — confirming natural behavioral segmentation in the data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&amp; Evaluated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74320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2743200" cy="38404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32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Logistic Regression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Baseline linear model. Predicts class probability.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928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Test: 77.11%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18928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CV: 75.66%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868680"/>
            <a:ext cx="274320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868680"/>
            <a:ext cx="2743200" cy="38404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932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Decision Tree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73552" y="13716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Splits data using feature thresholds. Easy to interpret.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73552" y="18928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Test: 73.49%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53712" y="18928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CV: 66.99%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9904" y="868680"/>
            <a:ext cx="2743200" cy="1664208"/>
          </a:xfrm>
          <a:prstGeom prst="rect">
            <a:avLst/>
          </a:prstGeom>
          <a:solidFill>
            <a:srgbClr val="E8FAF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9904" y="868680"/>
            <a:ext cx="27432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932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Random Forest ★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81344" y="13716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Ensemble of trees — reduces overfitting, best performer.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81344" y="18928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Test: 78.31%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61504" y="18928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CV: 73.25%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788920"/>
            <a:ext cx="274320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788920"/>
            <a:ext cx="2743200" cy="38404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8529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SVM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32918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Finds optimal hyperplane to separate classes (RBF kernel).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8130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Test: 62.65%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45920" y="38130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CV: 61.69%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82112" y="2788920"/>
            <a:ext cx="274320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82112" y="2788920"/>
            <a:ext cx="2743200" cy="38404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28529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Gradient Boosting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73552" y="32918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Builds trees sequentially, each correcting previous errors.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73552" y="38130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Test: 75.90%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53712" y="38130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CV: 72.77%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9904" y="2788920"/>
            <a:ext cx="274320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9904" y="2788920"/>
            <a:ext cx="2743200" cy="38404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1344" y="28529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XGBoost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181344" y="32918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Optimized gradient boosting with regularization.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81344" y="38130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Test: 77.11%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61504" y="38130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CV: 70.84%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Random Forest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🏆  Random Forest — Best Model with 78.31% Test Accuracy  |  CV Mean: 73.25%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41148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105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Why Random Forest?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76272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</a:rPr>
              <a:t>Highest test accuracy among all 6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</a:rPr>
              <a:t>Good cross-validation — no overfitting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</a:rPr>
              <a:t>Handles noisy &amp; imbalanced data well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</a:rPr>
              <a:t>Provides feature importance rankings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719072"/>
            <a:ext cx="4206240" cy="34747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37360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Class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04688" y="1737360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Precision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45936" y="1737360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Recall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87184" y="1737360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28432" y="1737360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Support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121408"/>
            <a:ext cx="420624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121408"/>
            <a:ext cx="54864" cy="3931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212848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A3A"/>
                </a:solidFill>
              </a:rPr>
              <a:t>Low Risk (0)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77840" y="2212848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A"/>
                </a:solidFill>
              </a:rPr>
              <a:t>0.80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19088" y="2212848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A"/>
                </a:solidFill>
              </a:rPr>
              <a:t>0.88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60336" y="2212848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A"/>
                </a:solidFill>
              </a:rPr>
              <a:t>0.83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01584" y="2212848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A"/>
                </a:solidFill>
              </a:rPr>
              <a:t>49 samples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551176"/>
            <a:ext cx="42062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551176"/>
            <a:ext cx="54864" cy="393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642616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A3A"/>
                </a:solidFill>
              </a:rPr>
              <a:t>Medium Risk (1)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77840" y="2642616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A"/>
                </a:solidFill>
              </a:rPr>
              <a:t>0.86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19088" y="2642616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A"/>
                </a:solidFill>
              </a:rPr>
              <a:t>0.67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60336" y="2642616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A"/>
                </a:solidFill>
              </a:rPr>
              <a:t>0.75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01584" y="2642616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A"/>
                </a:solidFill>
              </a:rPr>
              <a:t>9 samples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2980944"/>
            <a:ext cx="420624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980944"/>
            <a:ext cx="54864" cy="3931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307238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A3A"/>
                </a:solidFill>
              </a:rPr>
              <a:t>High Risk (2)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77840" y="307238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A"/>
                </a:solidFill>
              </a:rPr>
              <a:t>0.73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19088" y="307238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A"/>
                </a:solidFill>
              </a:rPr>
              <a:t>0.64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260336" y="307238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A"/>
                </a:solidFill>
              </a:rPr>
              <a:t>0.68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101584" y="307238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A"/>
                </a:solidFill>
              </a:rPr>
              <a:t>—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410712"/>
            <a:ext cx="4206240" cy="39319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410712"/>
            <a:ext cx="54864" cy="3931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3502152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A3A"/>
                </a:solidFill>
              </a:rPr>
              <a:t>Overall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577840" y="3502152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A3A"/>
                </a:solidFill>
              </a:rPr>
              <a:t>0.78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19088" y="3502152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A3A"/>
                </a:solidFill>
              </a:rPr>
              <a:t>0.78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260336" y="3502152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A3A"/>
                </a:solidFill>
              </a:rPr>
              <a:t>0.78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101584" y="3502152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A3A"/>
                </a:solidFill>
              </a:rPr>
              <a:t>83 total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Note: Medium Risk had low recall due to very few samples (only 9) — class imbalance challenge.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MODEL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Side by Side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86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17520" y="886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Test Accuracy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53712" y="8869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CV Mean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98464" y="8869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CV Std Dev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43216" y="886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Bar Chart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1298448"/>
            <a:ext cx="8595360" cy="539496"/>
          </a:xfrm>
          <a:prstGeom prst="rect">
            <a:avLst/>
          </a:prstGeom>
          <a:solidFill>
            <a:srgbClr val="E8FA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298448"/>
            <a:ext cx="54864" cy="5394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264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</a:rPr>
              <a:t>Random Forest ★ BEST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17520" y="14264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78.31%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14264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73.25%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98464" y="14264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0.0376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43216" y="1444752"/>
            <a:ext cx="1324723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874520"/>
            <a:ext cx="85953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002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Logistic Regression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17520" y="20025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3A"/>
                </a:solidFill>
              </a:rPr>
              <a:t>77.11%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53712" y="20025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75.66%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98464" y="20025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0.0413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43216" y="2020824"/>
            <a:ext cx="1304424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450592"/>
            <a:ext cx="8595360" cy="5394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578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XGBoost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17520" y="25786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3A"/>
                </a:solidFill>
              </a:rPr>
              <a:t>77.11%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53712" y="25786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70.84%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98464" y="25786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0.0427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43216" y="2596896"/>
            <a:ext cx="1304424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026664"/>
            <a:ext cx="85953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154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Gradient Boosting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017520" y="3154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3A"/>
                </a:solidFill>
              </a:rPr>
              <a:t>75.90%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53712" y="3154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72.77%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98464" y="3154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0.0435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43216" y="3172968"/>
            <a:ext cx="128395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602736"/>
            <a:ext cx="8595360" cy="5394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7307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Decision Tree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017520" y="37307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3A"/>
                </a:solidFill>
              </a:rPr>
              <a:t>73.49%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53712" y="37307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66.99%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998464" y="37307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0.0123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43216" y="3749040"/>
            <a:ext cx="1243186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178808"/>
            <a:ext cx="85953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30682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A"/>
                </a:solidFill>
              </a:rPr>
              <a:t>SVM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017520" y="430682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3A"/>
                </a:solidFill>
              </a:rPr>
              <a:t>62.65%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53712" y="4306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61.69%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998464" y="4306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0.0234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43216" y="4325112"/>
            <a:ext cx="105981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80/20 train-test split  |  Stratified sampling  |  Standard Scaler  |  5-Fold Cross Validation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LIVE PREDICTION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Mental Health Risk Assessment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14/18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8696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3A8A"/>
                </a:solidFill>
              </a:rPr>
              <a:t>How It Works: User inputs behavior data → Feature engineering applied → Random Forest predicts Low / Medium / High risk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3383280" cy="34747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 Feature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03120" y="13716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Value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338328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81051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03120" y="181051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22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12264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85416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Usage Hours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03120" y="218541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5 hrs/day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338328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560320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Purposeless Usage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3120" y="25603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4 / 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862072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935224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Distraction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03120" y="293522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4 / 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236976"/>
            <a:ext cx="338328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31012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Comparison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03120" y="33101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4 / 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611880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68503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Validation Seeking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03120" y="368503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4 / 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986784"/>
            <a:ext cx="338328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059936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Restlessness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103120" y="405993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3 / 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361688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434840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Concentration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103120" y="4434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3 / 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93192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A"/>
                </a:solidFill>
              </a:rPr>
              <a:t>Computed Scores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931920" y="1755648"/>
            <a:ext cx="25603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31920" y="1755648"/>
            <a:ext cx="54864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69080" y="181051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Addiction Score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69080" y="206654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</a:rPr>
              <a:t>3.75 / 5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931920" y="2478024"/>
            <a:ext cx="25603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31920" y="2478024"/>
            <a:ext cx="54864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69080" y="253288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Behavioral Score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69080" y="27889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</a:rPr>
              <a:t>3.50 / 5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931920" y="3200400"/>
            <a:ext cx="25603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31920" y="3200400"/>
            <a:ext cx="54864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69080" y="325526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Mental Score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69080" y="351129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3.00 / 5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3931920" y="3922776"/>
            <a:ext cx="25603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31920" y="3922776"/>
            <a:ext cx="54864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69080" y="39776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Overall Score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069080" y="423367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3.42 / 5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675120" y="1353312"/>
            <a:ext cx="2194560" cy="30723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0" y="14813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RESULT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75120" y="1883664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4800" dirty="0"/>
          </a:p>
        </p:txBody>
      </p:sp>
      <p:sp>
        <p:nvSpPr>
          <p:cNvPr id="55" name="Text 53"/>
          <p:cNvSpPr/>
          <p:nvPr/>
        </p:nvSpPr>
        <p:spPr>
          <a:xfrm>
            <a:off x="6675120" y="24871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BBB"/>
                </a:solidFill>
              </a:rPr>
              <a:t>RISK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6858000" y="2999232"/>
            <a:ext cx="1828800" cy="0"/>
          </a:xfrm>
          <a:prstGeom prst="line">
            <a:avLst/>
          </a:prstGeom>
          <a:noFill/>
          <a:ln w="12700">
            <a:solidFill>
              <a:srgbClr val="FFAA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75120" y="309067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0D0"/>
                </a:solidFill>
              </a:rPr>
              <a:t>Model: Random Forest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75120" y="334670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0D0"/>
                </a:solidFill>
              </a:rPr>
              <a:t>Accuracy: 78.31%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675120" y="362102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BBB"/>
                </a:solidFill>
              </a:rPr>
              <a:t>Scores exceed high-risk threshold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C2626"/>
                </a:solidFill>
              </a:rPr>
              <a:t>Why HIGH RISK? — 5 hrs/day usage, Addiction Score 3.75, Comparison &amp; Validation both at 4/5 — all exceed High Risk thresholds.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KEY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15/18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0241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44475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447 clean responses, 22 features, 3 risk classes after preprocessing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0016" y="91440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0058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0096" y="10241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Best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9744" y="144475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Random Forest: 78.31% accuracy, 73.25% CV mean — best generalization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23500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Feature Engg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277063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mental_score + overall_score together = ~29% of total prediction power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0016" y="224028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0096" y="23500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Behavior &gt;Age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9744" y="277063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How users behave matters more than demographics. Gender = only 1.2% importance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57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367588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Clustering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409651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K-Means &amp; Hierarchical both found 3 identical user groups — strong validation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0016" y="356616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3657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💤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40096" y="367588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Sleep &amp; Risk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9744" y="409651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Sleep disturbances and concentration difficulty are among the top predictors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6A34A"/>
                </a:solidFill>
              </a:rPr>
              <a:t>Overall: Feature engineering was the single most impactful step — engineered scores dominated all model rankings.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3C5FD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16/18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AD3FF"/>
                </a:solidFill>
              </a:rPr>
              <a:t>Dataset was cleaned, preprocessed, and transformed into a structured format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AD3FF"/>
                </a:solidFill>
              </a:rPr>
              <a:t>Meaningful features engineered: Addiction Score, Behavioral Score, Mental Score, Overall Score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AD3FF"/>
                </a:solidFill>
              </a:rPr>
              <a:t>Combined Mental Health Index constructed and categorized: Low / Medium / High risk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AD3FF"/>
                </a:solidFill>
              </a:rPr>
              <a:t>EDA revealed strong links between behavioral patterns and mental health outcomes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AD3FF"/>
                </a:solidFill>
              </a:rPr>
              <a:t>K-Means &amp; Hierarchical Clustering both confirmed 3 distinct user segments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AD3FF"/>
                </a:solidFill>
              </a:rPr>
              <a:t>6 ML models trained — Random Forest achieved best accuracy of 78.31%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AD3FF"/>
                </a:solidFill>
              </a:rPr>
              <a:t>Behavioral factors (addiction, comparison, validation) are stronger predictors than demographics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AD3FF"/>
                </a:solidFill>
              </a:rPr>
              <a:t>Live prediction system successfully built and tested with real input data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AD3FF"/>
                </a:solidFill>
              </a:rPr>
              <a:t>FUTURE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Done Next?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17/18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0241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Larger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44475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Collect more diverse responses across age groups, regions and demographics to improve accuracy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0016" y="91440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0058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0096" y="10241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Deep Learning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9744" y="144475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Apply Neural Networks &amp; LSTM models to detect complex non-linear patterns in behavioral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23500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Handle Imbalance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277063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Use SMOTE (oversampling) to improve Medium Risk class detection — currently only 9 test samples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0016" y="224028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0096" y="23500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Web / Mobile App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9744" y="277063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Deploy live prediction system as a Flask or Streamlit app accessible to students &amp; counselors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57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367588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Content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409651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Analyze type of content consumed (news, entertainment, comparison) for deeper insights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0016" y="356616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3657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40096" y="367588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Longitudinal Study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9744" y="409651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Track same individuals over time to see how risk evolves with changing social media habits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5213A"/>
          </a:solidFill>
          <a:ln w="12700">
            <a:solidFill>
              <a:srgbClr val="152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2286000" y="2176272"/>
            <a:ext cx="45720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04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</a:rPr>
              <a:t>Muskan Saxena  |  Roll No. 2409196900002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688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</a:rPr>
              <a:t>M.Sc Data Science — 4th Semester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Supervised by: Dr. Ranjana Gupta &amp; Dr. Minakshi Pachauri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Department of Statistics  |  Dr. Bhimrao Ambedkar University, Agra  |  May 2026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</a:rPr>
              <a:t>"Behavioral patterns are stronger predictors of mental health risk than any demographic factor."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1695</Words>
  <Application>Microsoft Office PowerPoint</Application>
  <PresentationFormat>On-screen Show (16:9)</PresentationFormat>
  <Paragraphs>378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Muskan Saxena</cp:lastModifiedBy>
  <cp:revision>1</cp:revision>
  <dcterms:created xsi:type="dcterms:W3CDTF">2026-05-15T19:06:54Z</dcterms:created>
  <dcterms:modified xsi:type="dcterms:W3CDTF">2026-05-16T03:31:20Z</dcterms:modified>
</cp:coreProperties>
</file>